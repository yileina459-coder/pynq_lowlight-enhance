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【0:00–0:20 开场】</a:t>
            </a:r>
          </a:p>
          <a:p>
            <a:r>
              <a:t>各位老师好，我的作品是低延迟视觉增强终端。一句话说清它和别的方案的区别：画面不做帧缓存，像素从接口进来就直接算、直接送出去，所以延迟不到一行，而不是一帧。</a:t>
            </a:r>
          </a:p>
          <a:p>
            <a:r>
              <a:t>这一页的三个数字就是全篇的三个结论：延迟 21 个时钟、逐位比对 0 差错、相对 ARM 快 196.7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【0:20–1:00 问题】</a:t>
            </a:r>
          </a:p>
          <a:p>
            <a:r>
              <a:t>低照度观察的困难不是看不清细节，而是整幅偏暗、反差被压掉。手机和 PC 的通路通常是采集、处理、显示中间过帧缓冲，量级在 100–300 毫秒，人一动画面就迟滞。</a:t>
            </a:r>
          </a:p>
          <a:p>
            <a:r>
              <a:t>这类设备真正要的是延迟，所以我把整个处理放在像素流里做，不做帧缓存。代价也很明确：放弃了降噪、稳像这类需要多帧的后处理。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【1:00–1:45 方案】</a:t>
            </a:r>
          </a:p>
          <a:p>
            <a:r>
              <a:t>数据从 PS 写进 DDR，由 VDMA 供帧，然后依次过 SOF 对齐、增强核、像素解包和视频时序重建，最后出 HDMI。增强核在真实像素通路上，PS 不碰任何像素。</a:t>
            </a:r>
          </a:p>
          <a:p>
            <a:r>
              <a:t>下面这条是验证通路：同一份源码换成 DMA 版本，可以整帧回读，跟 numpy 黄金模型逐位比对，不需要显示器。</a:t>
            </a:r>
          </a:p>
          <a:p>
            <a:r>
              <a:t>为什么帧源不是 HDMI 输入？实测这块板的 HDMI 输出只支持 640×480，而输入 IP 又跑不了 640×480，原厂位流也一样，所以直通无解 —— 这是硬件上限，不是没调通。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【1:45–2:20 算子】</a:t>
            </a:r>
          </a:p>
          <a:p>
            <a:r>
              <a:t>算子只有一条流水线，四段：局部对比、两段色调曲线、二值/反色/单色、分屏。所有参数一共 59 位，PS 在运行期下发，一共 10 个预设。</a:t>
            </a:r>
          </a:p>
          <a:p>
            <a:r>
              <a:t>实现上全整数定点，每像素一拍，三块行缓冲轮转，每像素对每块缓冲只读一次写一次，所以刚好塞进双口 BRAM。资源是 3 块 BRAM、2 个 DSP、1659 个 LUT，其中 LUT 只占 3%。</a:t>
            </a:r>
          </a:p>
          <a:p>
            <a:r>
              <a:t>分屏是免费的：用现成的列计数器就能在同一帧里左右分开，这是答辩现场最直观的证据。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【2:20–2:55 效果】</a:t>
            </a:r>
          </a:p>
          <a:p>
            <a:r>
              <a:t>这张图是同一张暗图在四个预设下的实拍，右边三张分别是提亮、文档、夜间。平均亮度从 29 提到 96 到 104，高光截断都在 0.2% 以下。</a:t>
            </a:r>
          </a:p>
          <a:p>
            <a:r>
              <a:t>一个踩过的坑写在这里：最早的阅读预设在暗页上会把黑白翻过来，对比度从 +41 掉到 −51；后来用可复现的脚本重新搜参数，才有了 document 预设，对比度 +158。</a:t>
            </a:r>
          </a:p>
          <a:p>
            <a:r>
              <a:t>也就是说，“提亮”不等于“可读”，极性必须保住。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【2:55–3:30 正确性】</a:t>
            </a:r>
          </a:p>
          <a:p>
            <a:r>
              <a:t>硬件算子最容易停在“看起来对”。我这里做了三层：C 仿真对一份独立写的 C++ 黄金模型，两种配置各 9216 拍，0 误差；板上把整帧回读，8 档（验证参数表）逐一比 numpy，每档 276 万多个通道，0 个不一致；边界策略也一样——水平复制、垂直用上一帧行，硬件、测试台、Python 三处同口径。</a:t>
            </a:r>
          </a:p>
          <a:p>
            <a:r>
              <a:t>能要求 0 容差，是因为先把边界这件事定义死了，而不是靠事后调容差。</a:t>
            </a:r>
          </a:p>
          <a:p>
            <a:r>
              <a:t>（如果有人问 10 个预设为什么这里写 8 档：DMA 逐位验证用的那一版参数表是 8 档，而且 night/document 之后还调过；HDMI 侧现在运行期是 10 档，但那 10 档没有逐位验证。）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【3:30–4:05 性能】</a:t>
            </a:r>
          </a:p>
          <a:p>
            <a:r>
              <a:t>这是同一块板、同一张 720p 图、同一个 Sobel。纯软件 3108 毫秒一帧，PL 整帧传输 15.8 毫秒，196.7 倍，而且两边输出逐像素完全一致，不是用精度换速度。</a:t>
            </a:r>
          </a:p>
          <a:p>
            <a:r>
              <a:t>中间那 659 毫秒的逐行版本要解释一句：时间几乎全花在 Python 每行一次启动和 DMA 轮询上，不是算子在算。</a:t>
            </a:r>
          </a:p>
          <a:p>
            <a:r>
              <a:t>另外要说清口径：主机上 numpy 只要 40 毫秒，比板子还快，所以这组数比的是同一块嵌入式板卡上的 ARM 和 PL。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【4:05–4:35 真机】</a:t>
            </a:r>
          </a:p>
          <a:p>
            <a:r>
              <a:t>真机是 640×480、60 帧，采集卡实拍稳定。切预设不黑屏这件事是量化验证的：150 秒里切 25 次，写帧 741 次，超过 60 毫秒的卡顿 0 次，延迟全程恒定 21 拍。</a:t>
            </a:r>
          </a:p>
          <a:p>
            <a:r>
              <a:t>下面三张图是实拍，最右边那张是同一帧里左边原始、右边增强，能直接看出内核在处理像素。</a:t>
            </a:r>
          </a:p>
          <a:p>
            <a:r>
              <a:t>两个真问题也放在这：HLS 把 6 个配置锁进了流水线 prologue，换预设根本没生效，最后把配置搬进 BRAM；偏移看起来是随机的 0/45/89 像素，根因是缺帧起始；加 SOF 后相位只落在亚行内，但仍随流启动变化，所以启动后测一次、写补偿（本次 218），残差 0—1 像素。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【4:35–5:00 收尾】</a:t>
            </a:r>
          </a:p>
          <a:p>
            <a:r>
              <a:t>三句话：架构上零帧缓存，延迟 21 个时钟，代价是放弃帧级后处理；证据上软硬件同算法、0 容差比对，相对 ARM 196.7 倍；工程上全流程脚本化，五个 Skill 可以迁移。</a:t>
            </a:r>
          </a:p>
          <a:p>
            <a:r>
              <a:t>限制也如实说：这块板的 HDMI 只能 640×480，端到端和功耗还没测，三个算子还没进同一个 overlay。</a:t>
            </a:r>
          </a:p>
          <a:p>
            <a:r>
              <a:t>谢谢各位老师，欢迎提问。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713232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63AEE8"/>
                </a:solidFill>
                <a:latin typeface="Microsoft YaHei"/>
                <a:ea typeface="Microsoft YaHei"/>
              </a:rPr>
              <a:t>技术方案与板级验证  ·  PYNQ-Z2（Zynq-7020）  ·  Vivado / Vitis HLS 2026.1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1042416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Microsoft YaHei"/>
                <a:ea typeface="Microsoft YaHei"/>
              </a:rPr>
              <a:t>低延迟视觉增强终端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697480"/>
            <a:ext cx="100584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BFD2E6"/>
                </a:solidFill>
                <a:latin typeface="Microsoft YaHei"/>
                <a:ea typeface="Microsoft YaHei"/>
              </a:rPr>
              <a:t>零帧缓存  ·  像素边走边算  ·  延迟不到一行，而不是一帧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3310128"/>
            <a:ext cx="2103120" cy="32004"/>
          </a:xfrm>
          <a:prstGeom prst="rect">
            <a:avLst/>
          </a:prstGeom>
          <a:solidFill>
            <a:srgbClr val="63A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493008"/>
            <a:ext cx="100584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BC4"/>
                </a:solidFill>
                <a:latin typeface="Microsoft YaHei"/>
                <a:ea typeface="Microsoft YaHei"/>
              </a:rPr>
              <a:t>平台  PYNQ-Z2（Zynq-7000 XC7Z020）      工具  Vivado / Vitis HLS 2026.1      面向  低照度图像观察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4590288"/>
            <a:ext cx="3163824" cy="1060704"/>
          </a:xfrm>
          <a:prstGeom prst="roundRect">
            <a:avLst>
              <a:gd name="adj" fmla="val 9000"/>
            </a:avLst>
          </a:prstGeom>
          <a:solidFill>
            <a:srgbClr val="18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21 个时钟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000" b="0" i="0">
                <a:solidFill>
                  <a:srgbClr val="9DB5CD"/>
                </a:solidFill>
                <a:latin typeface="Microsoft YaHei"/>
                <a:ea typeface="Microsoft YaHei"/>
              </a:rPr>
              <a:t>内核流水线延迟（≈ 0.15 µs）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4" y="4590288"/>
            <a:ext cx="3163824" cy="1060704"/>
          </a:xfrm>
          <a:prstGeom prst="roundRect">
            <a:avLst>
              <a:gd name="adj" fmla="val 9000"/>
            </a:avLst>
          </a:prstGeom>
          <a:solidFill>
            <a:srgbClr val="18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0 / 2,764,800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000" b="0" i="0">
                <a:solidFill>
                  <a:srgbClr val="9DB5CD"/>
                </a:solidFill>
                <a:latin typeface="Microsoft YaHei"/>
                <a:ea typeface="Microsoft YaHei"/>
              </a:rPr>
              <a:t>板上逐位比对的通道差错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16368" y="4590288"/>
            <a:ext cx="3163824" cy="1060704"/>
          </a:xfrm>
          <a:prstGeom prst="roundRect">
            <a:avLst>
              <a:gd name="adj" fmla="val 9000"/>
            </a:avLst>
          </a:prstGeom>
          <a:solidFill>
            <a:srgbClr val="18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196.7×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000" b="0" i="0">
                <a:solidFill>
                  <a:srgbClr val="9DB5CD"/>
                </a:solidFill>
                <a:latin typeface="Microsoft YaHei"/>
                <a:ea typeface="Microsoft YaHei"/>
              </a:rPr>
              <a:t>相对 ARM 纯软件实现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6035040"/>
            <a:ext cx="10424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48AA2"/>
                </a:solidFill>
                <a:latin typeface="Microsoft YaHei"/>
                <a:ea typeface="Microsoft YaHei"/>
              </a:rPr>
              <a:t>汇报 5 分钟  ｜  2026.10  ｜  证据与复现：README.md · report/design_report.md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01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暗光下的画面，卡的不是帧率，是延迟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59893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75104"/>
            <a:ext cx="598932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62230"/>
                </a:solidFill>
                <a:latin typeface="Microsoft YaHei"/>
                <a:ea typeface="Microsoft YaHei"/>
              </a:rPr>
              <a:t>夜间巡检与取证、车载夜视、工业与显微弱光成像。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33472"/>
            <a:ext cx="59893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难点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07791"/>
            <a:ext cx="598932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62230"/>
                </a:solidFill>
                <a:latin typeface="Microsoft YaHei"/>
                <a:ea typeface="Microsoft YaHei"/>
              </a:rPr>
              <a:t>不是分辨率，而是画面偏暗、反差不足 —— 信息在，但读不出来。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59893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840480"/>
            <a:ext cx="598932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62230"/>
                </a:solidFill>
                <a:latin typeface="Microsoft YaHei"/>
                <a:ea typeface="Microsoft YaHei"/>
              </a:rPr>
              <a:t>通用手机 / PC 通路在 100–300 ms 量级：迟滞、拖影，长时间观察容易疲劳。</a:t>
            </a:r>
          </a:p>
        </p:txBody>
      </p:sp>
      <p:pic>
        <p:nvPicPr>
          <p:cNvPr id="11" name="Picture 10" descr="source_dark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64208"/>
            <a:ext cx="4343400" cy="3255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3720" y="4974336"/>
            <a:ext cx="4343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695A6"/>
                </a:solidFill>
                <a:latin typeface="Microsoft YaHei"/>
                <a:ea typeface="Microsoft YaHei"/>
              </a:rPr>
              <a:t>暗光书页：肉眼勉强可读，拍下来几乎全黑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48656"/>
            <a:ext cx="10874959" cy="71323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09728" tIns="54864" bIns="54864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239"/>
                </a:solidFill>
                <a:latin typeface="Microsoft YaHei"/>
                <a:ea typeface="Microsoft YaHei"/>
              </a:rPr>
              <a:t>核心指标是端到端延迟，不是帧率 —— 所以整条增强链不进帧缓冲。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248656"/>
            <a:ext cx="64008" cy="713232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053328"/>
            <a:ext cx="10874959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注：100–300 ms 为公开经验量级，非本项目实测。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02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零帧缓存：增强链整个塞进像素流里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19072"/>
            <a:ext cx="1691640" cy="89611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2239"/>
                </a:solidFill>
                <a:latin typeface="Microsoft YaHei"/>
                <a:ea typeface="Microsoft YaHei"/>
              </a:rPr>
              <a:t>PS 端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Python / Jupyter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送帧、改参数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78608" y="1719072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2239"/>
                </a:solidFill>
                <a:latin typeface="Microsoft YaHei"/>
                <a:ea typeface="Microsoft YaHei"/>
              </a:rPr>
              <a:t>DDR + VDMA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PS 写帧，VDMA 供帧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1728" y="1719072"/>
            <a:ext cx="2697480" cy="896112"/>
          </a:xfrm>
          <a:prstGeom prst="roundRect">
            <a:avLst>
              <a:gd name="adj" fmla="val 9000"/>
            </a:avLst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SOF · enhance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950" b="0" i="0">
                <a:solidFill>
                  <a:srgbClr val="D6E9FA"/>
                </a:solidFill>
                <a:latin typeface="Microsoft YaHei"/>
                <a:ea typeface="Microsoft YaHei"/>
              </a:rPr>
              <a:t>增强核在真实像素流上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07808" y="1719072"/>
            <a:ext cx="2148840" cy="89611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2239"/>
                </a:solidFill>
                <a:latin typeface="Microsoft YaHei"/>
                <a:ea typeface="Microsoft YaHei"/>
              </a:rPr>
              <a:t>unpack · vid_out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重建视频时序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85248" y="1719072"/>
            <a:ext cx="1545336" cy="89611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F2239"/>
                </a:solidFill>
                <a:latin typeface="Microsoft YaHei"/>
                <a:ea typeface="Microsoft YaHei"/>
              </a:rPr>
              <a:t>HDMI OUT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640×480 @60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63724" y="2093976"/>
            <a:ext cx="201168" cy="146304"/>
          </a:xfrm>
          <a:prstGeom prst="rightArrow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475988" y="2093976"/>
            <a:ext cx="201168" cy="146304"/>
          </a:xfrm>
          <a:prstGeom prst="rightArrow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83779" y="2093976"/>
            <a:ext cx="201168" cy="146304"/>
          </a:xfrm>
          <a:prstGeom prst="rightArrow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770364" y="2093976"/>
            <a:ext cx="201168" cy="146304"/>
          </a:xfrm>
          <a:prstGeom prst="rightArrow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816352"/>
            <a:ext cx="10874959" cy="566928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09728" tIns="54864" b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7FD4"/>
                </a:solidFill>
                <a:latin typeface="Microsoft YaHei"/>
                <a:ea typeface="Microsoft YaHei"/>
              </a:rPr>
              <a:t>验证通路（不需要显示器）  </a:t>
            </a:r>
            <a:r>
              <a:rPr sz="1200" b="0" i="0">
                <a:solidFill>
                  <a:srgbClr val="162230"/>
                </a:solidFill>
                <a:latin typeface="Microsoft YaHei"/>
                <a:ea typeface="Microsoft YaHei"/>
              </a:rPr>
              <a:t>DDR ↔ AXI-DMA ↔ enhance → 回读 → numpy 黄金模型逐位比对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11880"/>
            <a:ext cx="3493008" cy="2103120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64592" bIns="54864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3AEE8"/>
                </a:solidFill>
                <a:latin typeface="Microsoft YaHei"/>
                <a:ea typeface="Microsoft YaHei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零帧缓存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增强链在像素流内一次走完，运算不落帧缓冲；PS 只负责送帧与改参数，不参与任何像素运算。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7972" y="3611880"/>
            <a:ext cx="3493008" cy="2103120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64592" bIns="54864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3AEE8"/>
                </a:solidFill>
                <a:latin typeface="Microsoft YaHei"/>
                <a:ea typeface="Microsoft YaHei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一份源码 · 两条通路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DMA 通路可回读、可逐位验证；HDMI 通路在真实像素流上出图。两条通路共用同一份 HLS 源码。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3611880"/>
            <a:ext cx="3493008" cy="2103120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64592" bIns="54864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3AEE8"/>
                </a:solidFill>
                <a:latin typeface="Microsoft YaHei"/>
                <a:ea typeface="Microsoft YaHei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帧源为什么是 VDMA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实测这块板 HDMI 输出只能 640×480，而 HDMI 输入又跑不了 640×480：直通无解。改由 VDMA 供帧，内核仍在真实像素通路上。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25312"/>
            <a:ext cx="10874959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695A6"/>
                </a:solidFill>
                <a:latin typeface="Microsoft YaHei"/>
                <a:ea typeface="Microsoft YaHei"/>
              </a:rPr>
              <a:t>位流：enhance_hdmi.bit（WNS +0.206 ns，142.857 MHz，0 失败端点）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03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核心算子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一条流水线，59 bit 参数全在运行期可调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00784"/>
            <a:ext cx="2514600" cy="124358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 bIns="54864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3AEE8"/>
                </a:solidFill>
                <a:latin typeface="Microsoft YaHei"/>
                <a:ea typeface="Microsoft YaHei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局部对比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1B7FD4"/>
                </a:solidFill>
                <a:latin typeface="Microsoft YaHei"/>
                <a:ea typeface="Microsoft YaHei"/>
              </a:rPr>
              <a:t>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980944"/>
            <a:ext cx="244144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8695A6"/>
                </a:solidFill>
                <a:latin typeface="Microsoft YaHei"/>
                <a:ea typeface="Microsoft YaHei"/>
              </a:rPr>
              <a:t>先算局部均值，再按比例放大细节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1700784"/>
            <a:ext cx="2514600" cy="124358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 bIns="54864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3AEE8"/>
                </a:solidFill>
                <a:latin typeface="Microsoft YaHei"/>
                <a:ea typeface="Microsoft YaHei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两段色调曲线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1B7FD4"/>
                </a:solidFill>
                <a:latin typeface="Microsoft YaHei"/>
                <a:ea typeface="Microsoft YaHei"/>
              </a:rPr>
              <a:t>knee · gain_lo · gain_hi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3" y="2980944"/>
            <a:ext cx="244144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8695A6"/>
                </a:solidFill>
                <a:latin typeface="Microsoft YaHei"/>
                <a:ea typeface="Microsoft YaHei"/>
              </a:rPr>
              <a:t>拐点以下、以上分别给不同增益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700784"/>
            <a:ext cx="2514600" cy="124358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 bIns="54864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3AEE8"/>
                </a:solidFill>
                <a:latin typeface="Microsoft YaHei"/>
                <a:ea typeface="Microsoft YaHei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二值 · 反色 · 单色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1B7FD4"/>
                </a:solidFill>
                <a:latin typeface="Microsoft YaHei"/>
                <a:ea typeface="Microsoft YaHei"/>
              </a:rPr>
              <a:t>thresh · invert · mono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3" y="2980944"/>
            <a:ext cx="244144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8695A6"/>
                </a:solidFill>
                <a:latin typeface="Microsoft YaHei"/>
                <a:ea typeface="Microsoft YaHei"/>
              </a:rPr>
              <a:t>硬阈值切分，可反色、去色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700784"/>
            <a:ext cx="2514600" cy="124358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 bIns="54864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3AEE8"/>
                </a:solidFill>
                <a:latin typeface="Microsoft YaHei"/>
                <a:ea typeface="Microsoft YaHei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分屏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1B7FD4"/>
                </a:solidFill>
                <a:latin typeface="Microsoft YaHei"/>
                <a:ea typeface="Microsoft YaHei"/>
              </a:rPr>
              <a:t>split_x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1703" y="2980944"/>
            <a:ext cx="244144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8695A6"/>
                </a:solidFill>
                <a:latin typeface="Microsoft YaHei"/>
                <a:ea typeface="Microsoft YaHei"/>
              </a:rPr>
              <a:t>同一帧内左原始、右处理，列计数器即可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29584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62230"/>
                </a:solidFill>
                <a:latin typeface="Microsoft YaHei"/>
                <a:ea typeface="Microsoft YaHei"/>
              </a:rPr>
              <a:t>全整数定点、无浮点；每像素 1 拍（II = 1）；</a:t>
            </a:r>
            <a:r>
              <a:rPr sz="1450" b="1" i="0">
                <a:solidFill>
                  <a:srgbClr val="0F2239"/>
                </a:solidFill>
                <a:latin typeface="Microsoft YaHei"/>
                <a:ea typeface="Microsoft YaHei"/>
              </a:rPr>
              <a:t>三块行缓冲轮转，每像素对每块缓冲一读一写 —— 正好卡进双口 BRAM。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2606040" cy="969264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7FD4"/>
                </a:solidFill>
                <a:latin typeface="Microsoft YaHei"/>
                <a:ea typeface="Microsoft YaHei"/>
              </a:rPr>
              <a:t>3 BRAM · 2 DSP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1659 LUT，占 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6139" y="4224528"/>
            <a:ext cx="2606040" cy="969264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7FD4"/>
                </a:solidFill>
                <a:latin typeface="Microsoft YaHei"/>
                <a:ea typeface="Microsoft YaHei"/>
              </a:rPr>
              <a:t>194.59 MHz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7 ns 约束下的估计 Fmax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4224528"/>
            <a:ext cx="2606040" cy="969264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7FD4"/>
                </a:solidFill>
                <a:latin typeface="Microsoft YaHei"/>
                <a:ea typeface="Microsoft YaHei"/>
              </a:rPr>
              <a:t>59 bit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运行期参数，PS 下发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1684" y="4224528"/>
            <a:ext cx="2606040" cy="969264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7FD4"/>
                </a:solidFill>
                <a:latin typeface="Microsoft YaHei"/>
                <a:ea typeface="Microsoft YaHei"/>
              </a:rPr>
              <a:t>10 个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预设，运行期一键切换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431536"/>
            <a:ext cx="10874959" cy="78638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09728" tIns="54864" bIns="54864"/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F2239"/>
                </a:solidFill>
                <a:latin typeface="Microsoft YaHei"/>
                <a:ea typeface="Microsoft YaHei"/>
              </a:rPr>
              <a:t>参数每像素从 BRAM 读一次 → 切预设只是一次寄存器写，像素流不中断。</a:t>
            </a: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（这是被 HLS 逼出来的设计，见第 07 页）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31536"/>
            <a:ext cx="64008" cy="786384"/>
          </a:xfrm>
          <a:prstGeom prst="rect">
            <a:avLst/>
          </a:prstGeom>
          <a:solidFill>
            <a:srgbClr val="D9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04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同一张暗图：平均亮度 29 → 96 / 100 / 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98448"/>
            <a:ext cx="10874959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475"/>
                </a:solidFill>
                <a:latin typeface="Microsoft YaHei"/>
                <a:ea typeface="Microsoft YaHei"/>
              </a:rPr>
              <a:t>pass 是恒等（不处理）；bright / document / night 分别针对提亮、文档与夜间，高光截断都在 0.2% 以下。</a:t>
            </a:r>
          </a:p>
        </p:txBody>
      </p:sp>
      <p:pic>
        <p:nvPicPr>
          <p:cNvPr id="6" name="Picture 5" descr="brightness_ladder_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1645920"/>
            <a:ext cx="8961120" cy="39803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18488" y="1645920"/>
            <a:ext cx="8961120" cy="3980303"/>
          </a:xfrm>
          <a:prstGeom prst="rect">
            <a:avLst/>
          </a:prstGeom>
          <a:noFill/>
          <a:ln w="9525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5687568"/>
            <a:ext cx="89611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80" b="0" i="0">
                <a:solidFill>
                  <a:srgbClr val="8695A6"/>
                </a:solidFill>
                <a:latin typeface="Microsoft YaHei"/>
                <a:ea typeface="Microsoft YaHei"/>
              </a:rPr>
              <a:t>同一张暗图、四个预设的板上实测（采集卡 640×480）；每格上方的数字是该预设下的平均亮度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0176"/>
            <a:ext cx="10874959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9832B"/>
                </a:solidFill>
                <a:latin typeface="Microsoft YaHei"/>
                <a:ea typeface="Microsoft YaHei"/>
              </a:rPr>
              <a:t>极性保持是特意调出来的：</a:t>
            </a:r>
            <a:r>
              <a:rPr sz="1050" b="0" i="0">
                <a:solidFill>
                  <a:srgbClr val="556475"/>
                </a:solidFill>
                <a:latin typeface="Microsoft YaHei"/>
                <a:ea typeface="Microsoft YaHei"/>
              </a:rPr>
              <a:t>暗页提亮不能把黑白翻过来 —— 旧 reading 预设对比度 +41 → −51，新 document 预设 +158。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05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正确性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不是“看着像”，是逐位一致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93008" cy="254203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219456" bIns="54864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695A6"/>
                </a:solidFill>
                <a:latin typeface="Microsoft YaHei"/>
                <a:ea typeface="Microsoft YaHei"/>
              </a:rPr>
              <a:t>C 仿真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2500" b="1" i="0">
                <a:solidFill>
                  <a:srgbClr val="1B7FD4"/>
                </a:solidFill>
                <a:latin typeface="Microsoft YaHei"/>
                <a:ea typeface="Microsoft YaHei"/>
              </a:rPr>
              <a:t>9216 拍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200" b="1" i="0">
                <a:solidFill>
                  <a:srgbClr val="0F2239"/>
                </a:solidFill>
                <a:latin typeface="Microsoft YaHei"/>
                <a:ea typeface="Microsoft YaHei"/>
              </a:rPr>
              <a:t>0 误差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对独立编写的 C++ 黄金模型，两种配置各推 9216 拍，侧带信号完好。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7972" y="1645920"/>
            <a:ext cx="3493008" cy="254203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219456" bIns="54864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695A6"/>
                </a:solidFill>
                <a:latin typeface="Microsoft YaHei"/>
                <a:ea typeface="Microsoft YaHei"/>
              </a:rPr>
              <a:t>板上回读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2500" b="1" i="0">
                <a:solidFill>
                  <a:srgbClr val="1B7FD4"/>
                </a:solidFill>
                <a:latin typeface="Microsoft YaHei"/>
                <a:ea typeface="Microsoft YaHei"/>
              </a:rPr>
              <a:t>0 / 2,764,800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200" b="1" i="0">
                <a:solidFill>
                  <a:srgbClr val="0F2239"/>
                </a:solidFill>
                <a:latin typeface="Microsoft YaHei"/>
                <a:ea typeface="Microsoft YaHei"/>
              </a:rPr>
              <a:t>通道不一致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AXI-DMA 整帧回环，8 档（验证参数表）逐一比 numpy：每档 0 个通道不一致，15.6 ms/帧。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7575" y="1645920"/>
            <a:ext cx="3493008" cy="2542032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01168" tIns="219456" bIns="54864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695A6"/>
                </a:solidFill>
                <a:latin typeface="Microsoft YaHei"/>
                <a:ea typeface="Microsoft YaHei"/>
              </a:rPr>
              <a:t>边界策略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2500" b="1" i="0">
                <a:solidFill>
                  <a:srgbClr val="1B7FD4"/>
                </a:solidFill>
                <a:latin typeface="Microsoft YaHei"/>
                <a:ea typeface="Microsoft YaHei"/>
              </a:rPr>
              <a:t>一套口径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200" b="1" i="0">
                <a:solidFill>
                  <a:srgbClr val="0F2239"/>
                </a:solidFill>
                <a:latin typeface="Microsoft YaHei"/>
                <a:ea typeface="Microsoft YaHei"/>
              </a:rPr>
              <a:t>三处同源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水平复制、垂直用上一帧行 —— 写进头文件、测试台与 Python 参考，所以能要求 0 容差。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535424"/>
            <a:ext cx="10874959" cy="822960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54864" bIns="54864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239"/>
                </a:solidFill>
                <a:latin typeface="Microsoft YaHei"/>
                <a:ea typeface="Microsoft YaHei"/>
              </a:rPr>
              <a:t>只有 0 容差比对，才配说“结果正确”；“看起来差不多”不算验证，也骗不过边界。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22976"/>
            <a:ext cx="10874959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695A6"/>
                </a:solidFill>
                <a:latin typeface="Microsoft YaHei"/>
                <a:ea typeface="Microsoft YaHei"/>
              </a:rPr>
              <a:t>证据路径：src/hls/enhance/tb_enhance*.cpp  ·  board/enhance_dma/  ·  sim/enhance/golden_enhance.py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06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同一块板，ARM 还是 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481328"/>
            <a:ext cx="4937760" cy="1417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8600" b="1" i="0">
                <a:solidFill>
                  <a:srgbClr val="1B7FD4"/>
                </a:solidFill>
                <a:latin typeface="Microsoft YaHei"/>
                <a:ea typeface="Microsoft YaHei"/>
              </a:rPr>
              <a:t>196.7×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834640"/>
            <a:ext cx="47548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56475"/>
                </a:solidFill>
                <a:latin typeface="Microsoft YaHei"/>
                <a:ea typeface="Microsoft YaHei"/>
              </a:rPr>
              <a:t>同一块 PYNQ-Z2 · 同一张 1280×720 图 · 同一个 Sobel
两边输出逐像素完全一致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401568"/>
            <a:ext cx="475488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695A6"/>
                </a:solidFill>
                <a:latin typeface="Microsoft YaHei"/>
                <a:ea typeface="Microsoft YaHei"/>
              </a:rPr>
              <a:t>同一份算法描述 · 同一套测试图 · 同一份测量脚本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572768"/>
            <a:ext cx="50749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239"/>
                </a:solidFill>
                <a:latin typeface="Microsoft YaHei"/>
                <a:ea typeface="Microsoft YaHei"/>
              </a:rPr>
              <a:t>PS：ARM Cortex-A9 + numpy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47088"/>
            <a:ext cx="5074920" cy="365760"/>
          </a:xfrm>
          <a:prstGeom prst="roundRect">
            <a:avLst>
              <a:gd name="adj" fmla="val 2000"/>
            </a:avLst>
          </a:prstGeom>
          <a:solidFill>
            <a:srgbClr val="C4D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47088"/>
            <a:ext cx="4946904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0F2239"/>
                </a:solidFill>
                <a:latin typeface="Microsoft YaHei"/>
                <a:ea typeface="Microsoft YaHei"/>
              </a:rPr>
              <a:t>3108.4 ms / 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432304"/>
            <a:ext cx="50749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PL：Zynq 逻辑 + AXI-DMA 整帧传输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706624"/>
            <a:ext cx="50292" cy="365760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706624"/>
            <a:ext cx="489204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7FD4"/>
                </a:solidFill>
                <a:latin typeface="Microsoft YaHei"/>
                <a:ea typeface="Microsoft YaHei"/>
              </a:rPr>
              <a:t>15.8 ms / 帧  ·  63.45 fps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200400"/>
            <a:ext cx="50749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695A6"/>
                </a:solidFill>
                <a:latin typeface="Microsoft YaHei"/>
                <a:ea typeface="Microsoft YaHei"/>
              </a:rPr>
              <a:t>同比例尺下，PL 的条只有 0.03 英寸宽 —— 所以画成一条线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87952"/>
            <a:ext cx="3493008" cy="1097280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239"/>
                </a:solidFill>
                <a:latin typeface="Microsoft YaHei"/>
                <a:ea typeface="Microsoft YaHei"/>
              </a:rPr>
              <a:t>15.6 ms/帧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556475"/>
                </a:solidFill>
                <a:latin typeface="Microsoft YaHei"/>
                <a:ea typeface="Microsoft YaHei"/>
              </a:rPr>
              <a:t>增强核整帧（DMA，8 档验证表逐位比对）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7972" y="4187952"/>
            <a:ext cx="3493008" cy="1097280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239"/>
                </a:solidFill>
                <a:latin typeface="Microsoft YaHei"/>
                <a:ea typeface="Microsoft YaHei"/>
              </a:rPr>
              <a:t>21 个时钟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556475"/>
                </a:solidFill>
                <a:latin typeface="Microsoft YaHei"/>
                <a:ea typeface="Microsoft YaHei"/>
              </a:rPr>
              <a:t>内核流水线延迟 ≈ 0.15 µs，不到一行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4187952"/>
            <a:ext cx="3493008" cy="1097280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239"/>
                </a:solidFill>
                <a:latin typeface="Microsoft YaHei"/>
                <a:ea typeface="Microsoft YaHei"/>
              </a:rPr>
              <a:t>+0.206 ns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556475"/>
                </a:solidFill>
                <a:latin typeface="Microsoft YaHei"/>
                <a:ea typeface="Microsoft YaHei"/>
              </a:rPr>
              <a:t>WNS @142.857 MHz，0 失败端点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559552"/>
            <a:ext cx="10874959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逐行的 659 ms 是软件开销（720 次核启动 + 1440 次 DMA），改整帧传输后降到 15.8 ms。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主机 numpy 40.7 ms 更快 —— 所以比的是同一块嵌入式板卡上的 ARM 与 PL，而非桌面 CPU。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07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真机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640×480 持续出图：切预设不黑屏，偏移每次启动标定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3493008" cy="96926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54864" bIns="54864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239"/>
                </a:solidFill>
                <a:latin typeface="Microsoft YaHei"/>
                <a:ea typeface="Microsoft YaHei"/>
              </a:rPr>
              <a:t>640×480 @60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采集卡实测输出（板卡物理上限）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7972" y="1481328"/>
            <a:ext cx="3493008" cy="96926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54864" bIns="54864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239"/>
                </a:solidFill>
                <a:latin typeface="Microsoft YaHei"/>
                <a:ea typeface="Microsoft YaHei"/>
              </a:rPr>
              <a:t>741 次写帧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150 s 内 25 次切换，&gt;60 ms 卡顿 0 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7575" y="1481328"/>
            <a:ext cx="3493008" cy="969264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54864" bIns="54864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239"/>
                </a:solidFill>
                <a:latin typeface="Microsoft YaHei"/>
                <a:ea typeface="Microsoft YaHei"/>
              </a:rPr>
              <a:t>218 / 0–1 px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本次标定值 / 残差；相位随流启动变化</a:t>
            </a:r>
          </a:p>
        </p:txBody>
      </p:sp>
      <p:pic>
        <p:nvPicPr>
          <p:cNvPr id="8" name="Picture 7" descr="hdmi_final_a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70048"/>
            <a:ext cx="2395728" cy="1806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05840" y="2670048"/>
            <a:ext cx="2395728" cy="1806203"/>
          </a:xfrm>
          <a:prstGeom prst="rect">
            <a:avLst/>
          </a:prstGeom>
          <a:noFill/>
          <a:ln w="9525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62856"/>
            <a:ext cx="25786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原始（pass）</a:t>
            </a:r>
          </a:p>
        </p:txBody>
      </p:sp>
      <p:pic>
        <p:nvPicPr>
          <p:cNvPr id="11" name="Picture 10" descr="hdmi_final_b_brigh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2670048"/>
            <a:ext cx="2395728" cy="18124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968496" y="2670048"/>
            <a:ext cx="2395728" cy="1812474"/>
          </a:xfrm>
          <a:prstGeom prst="rect">
            <a:avLst/>
          </a:prstGeom>
          <a:noFill/>
          <a:ln w="9525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4562856"/>
            <a:ext cx="25786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提亮（bright）</a:t>
            </a:r>
          </a:p>
        </p:txBody>
      </p:sp>
      <p:pic>
        <p:nvPicPr>
          <p:cNvPr id="14" name="Picture 13" descr="hdmi_final_f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2670048"/>
            <a:ext cx="2395728" cy="181264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931152" y="2670048"/>
            <a:ext cx="2395728" cy="1812640"/>
          </a:xfrm>
          <a:prstGeom prst="rect">
            <a:avLst/>
          </a:prstGeom>
          <a:noFill/>
          <a:ln w="9525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562856"/>
            <a:ext cx="25786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6475"/>
                </a:solidFill>
                <a:latin typeface="Microsoft YaHei"/>
                <a:ea typeface="Microsoft YaHei"/>
              </a:rPr>
              <a:t>分屏：左原始、右增强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74336"/>
            <a:ext cx="10874959" cy="1005840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54864" bIns="54864"/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D9832B"/>
                </a:solidFill>
                <a:latin typeface="Microsoft YaHei"/>
                <a:ea typeface="Microsoft YaHei"/>
              </a:rPr>
              <a:t>①  </a:t>
            </a:r>
            <a:r>
              <a:rPr sz="1150" b="1" i="0">
                <a:solidFill>
                  <a:srgbClr val="162230"/>
                </a:solidFill>
                <a:latin typeface="Microsoft YaHei"/>
                <a:ea typeface="Microsoft YaHei"/>
              </a:rPr>
              <a:t>HLS 把 6 个配置锁进流水线 prologue，换预设无效</a:t>
            </a: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 → 配置搬进 BRAM，每像素重采样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150" b="1" i="0">
                <a:solidFill>
                  <a:srgbClr val="D9832B"/>
                </a:solidFill>
                <a:latin typeface="Microsoft YaHei"/>
                <a:ea typeface="Microsoft YaHei"/>
              </a:rPr>
              <a:t>②  </a:t>
            </a:r>
            <a:r>
              <a:rPr sz="1150" b="1" i="0">
                <a:solidFill>
                  <a:srgbClr val="162230"/>
                </a:solidFill>
                <a:latin typeface="Microsoft YaHei"/>
                <a:ea typeface="Microsoft YaHei"/>
              </a:rPr>
              <a:t>缺帧起始 SOF 时相位自由跑（历史 0 / 45 / 89）</a:t>
            </a:r>
            <a:r>
              <a:rPr sz="1150" b="0" i="0">
                <a:solidFill>
                  <a:srgbClr val="556475"/>
                </a:solidFill>
                <a:latin typeface="Microsoft YaHei"/>
                <a:ea typeface="Microsoft YaHei"/>
              </a:rPr>
              <a:t> → SOF 收敛到亚行内；每次启动标定（本次 218）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089904"/>
            <a:ext cx="10874959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695A6"/>
                </a:solidFill>
                <a:latin typeface="Microsoft YaHei"/>
                <a:ea typeface="Microsoft YaHei"/>
              </a:rPr>
              <a:t>端到端（含采集与显示）未实测：这块板 HDMI 输出只到 640×480，直通不可行 —— 硬件上限，原厂位流同样如此。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31520"/>
            <a:ext cx="68580" cy="475488"/>
          </a:xfrm>
          <a:prstGeom prst="rect">
            <a:avLst/>
          </a:prstGeom>
          <a:solidFill>
            <a:srgbClr val="1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365760"/>
            <a:ext cx="10874959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7FD4"/>
                </a:solidFill>
                <a:latin typeface="Microsoft YaHei"/>
                <a:ea typeface="Microsoft YaHei"/>
              </a:rPr>
              <a:t>08   </a:t>
            </a:r>
            <a:r>
              <a:rPr sz="1100" b="1" i="0">
                <a:solidFill>
                  <a:srgbClr val="8695A6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640080"/>
            <a:ext cx="10874959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239"/>
                </a:solidFill>
                <a:latin typeface="Microsoft YaHei"/>
                <a:ea typeface="Microsoft YaHei"/>
              </a:rPr>
              <a:t>三句话收尾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572768"/>
            <a:ext cx="73152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3AEE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1517904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239"/>
                </a:solidFill>
                <a:latin typeface="Microsoft YaHei"/>
                <a:ea typeface="Microsoft YaHei"/>
              </a:rPr>
              <a:t>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517904"/>
            <a:ext cx="521208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56475"/>
                </a:solidFill>
                <a:latin typeface="Microsoft YaHei"/>
                <a:ea typeface="Microsoft YaHei"/>
              </a:rPr>
              <a:t>零帧缓存流水线，延迟压到 21 个时钟；代价是放弃帧级后处理。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41448"/>
            <a:ext cx="73152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3AEE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386584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239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386584"/>
            <a:ext cx="521208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56475"/>
                </a:solidFill>
                <a:latin typeface="Microsoft YaHei"/>
                <a:ea typeface="Microsoft YaHei"/>
              </a:rPr>
              <a:t>软硬件同算法、0 容差逐位比对；Sobel 相对 PS 快 196.7 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10128"/>
            <a:ext cx="73152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3AEE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255264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239"/>
                </a:solidFill>
                <a:latin typeface="Microsoft YaHei"/>
                <a:ea typeface="Microsoft YaHei"/>
              </a:rPr>
              <a:t>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255264"/>
            <a:ext cx="521208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56475"/>
                </a:solidFill>
                <a:latin typeface="Microsoft YaHei"/>
                <a:ea typeface="Microsoft YaHei"/>
              </a:rPr>
              <a:t>全流程脚本化，5 个 PYNQ Skill 可迁到别的板卡与题目。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481328"/>
            <a:ext cx="3712463" cy="2331720"/>
          </a:xfrm>
          <a:prstGeom prst="roundRect">
            <a:avLst>
              <a:gd name="adj" fmla="val 9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09728" tIns="219456" b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7FD4"/>
                </a:solidFill>
                <a:latin typeface="Microsoft YaHei"/>
                <a:ea typeface="Microsoft YaHei"/>
              </a:rPr>
              <a:t>交付物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· enhance_hdmi.bit（WNS +0.206 ns）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· 源码 + 两条通路位流，两条命令重建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· 设计报告 · 一页海报 · 5 个 Skill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000" b="0" i="0">
                <a:solidFill>
                  <a:srgbClr val="556475"/>
                </a:solidFill>
                <a:latin typeface="Microsoft YaHei"/>
                <a:ea typeface="Microsoft YaHei"/>
              </a:rPr>
              <a:t>· DMA 逐位比对脚本与原始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10874959" cy="804672"/>
          </a:xfrm>
          <a:prstGeom prst="roundRect">
            <a:avLst>
              <a:gd name="adj" fmla="val 9000"/>
            </a:avLst>
          </a:prstGeom>
          <a:noFill/>
          <a:ln w="1143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09728" tIns="54864" bIns="54864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832B"/>
                </a:solidFill>
                <a:latin typeface="Microsoft YaHei"/>
                <a:ea typeface="Microsoft YaHei"/>
              </a:rPr>
              <a:t>已知限制  </a:t>
            </a:r>
            <a:r>
              <a:rPr sz="1100" b="0" i="0">
                <a:solidFill>
                  <a:srgbClr val="556475"/>
                </a:solidFill>
                <a:latin typeface="Microsoft YaHei"/>
                <a:ea typeface="Microsoft YaHei"/>
              </a:rPr>
              <a:t>HDMI 只能 640×480（板卡上限）· 端到端与功耗未实测 · Sobel/高斯/锐化三算子并行未集成进同一 overlay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504688"/>
            <a:ext cx="6400800" cy="594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239"/>
                </a:solidFill>
                <a:latin typeface="Microsoft YaHei"/>
                <a:ea typeface="Microsoft YaHei"/>
              </a:rPr>
              <a:t>谢谢，欢迎提问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437376"/>
            <a:ext cx="10874959" cy="7315"/>
          </a:xfrm>
          <a:prstGeom prst="rect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9144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低延迟视觉增强终端  ·  PYNQ-Z2  ·  Zynq-7020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510528"/>
            <a:ext cx="10972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695A6"/>
                </a:solidFill>
                <a:latin typeface="Microsoft YaHei"/>
                <a:ea typeface="Microsoft YaHe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