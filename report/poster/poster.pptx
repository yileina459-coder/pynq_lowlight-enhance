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900000"/>
          </a:xfrm>
          <a:prstGeom prst="rect">
            <a:avLst/>
          </a:prstGeom>
          <a:solidFill>
            <a:srgbClr val="12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6840000" cy="3555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Real-Time HDMI Video Processing Pipeline on PYNQ-Z2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40000"/>
            <a:ext cx="6840000" cy="339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C8D8EA"/>
                </a:solidFill>
                <a:latin typeface="Arial"/>
              </a:rPr>
              <a:t>2026 Embedded Chip &amp; System Design Competition  |  AMD track, self-selected topic (junior group)  |  Zynq-7000 XC7Z020  |  Vivado / Vitis HLS 2026.1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062000"/>
            <a:ext cx="6840000" cy="244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Motivation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1285200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0" y="1404000"/>
            <a:ext cx="6840000" cy="6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333333"/>
                </a:solidFill>
                <a:latin typeface="Arial"/>
              </a:rPr>
              <a:t>FPGA video accelerators get judged on three things: is the result correct, how much faster than software is it, and can somebody else reproduce it. This project answers all three with evidence rather than claims - an independent software golden model for every operator, a zero-tolerance comparison against it, and PS-vs-PL measurements taken on the same board with the same image.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2151174"/>
            <a:ext cx="6840000" cy="244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2374374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0000" y="2493174"/>
            <a:ext cx="6840000" cy="11095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333333"/>
                </a:solidFill>
                <a:latin typeface="Arial"/>
              </a:rPr>
              <a:t>Two data paths share one HLS kernel.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333333"/>
                </a:solidFill>
                <a:latin typeface="Arial"/>
              </a:rPr>
              <a:t>HDMI streaming:  HDMI IN -&gt; colour convert -&gt; pixel_pack -&gt; Sobel -&gt; pixel_unpack -&gt; HDMI OUT, bypassing the frame buffer, so latency is about one line.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333333"/>
                </a:solidFill>
                <a:latin typeface="Arial"/>
              </a:rPr>
              <a:t>AXI-DMA path:  PS &lt;-&gt; DDR &lt;-&gt; AXI DMA &lt;-&gt; Sobel, which gives readable-back results and is what makes bit-exact verification possible without a display.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333333"/>
                </a:solidFill>
                <a:latin typeface="Arial"/>
              </a:rPr>
              <a:t>Three rotating line buffers plus per-row 3-tap shift registers give each buffer one read and one write per pixel, which is what fits II = 1 into a dual-port BRAM.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3692730"/>
            <a:ext cx="6840000" cy="244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Operators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3915930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000" y="4034730"/>
            <a:ext cx="6840000" cy="6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333333"/>
                </a:solidFill>
                <a:latin typeface="Arial"/>
              </a:rPr>
              <a:t>Sobel edge detection, 3x3 Gaussian blur and 3x3 sharpen are hand-written Vitis HLS: II = 1, estimated Fmax 194.6 MHz at a 7 ns target, 3 to 9 BRAM and under 1.1k LUT each. Colour-space conversion reuses PYNQ's verified color_convert IP rather than being rewritten - the design effort went into the convolution operators, where it belongs.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4781904"/>
            <a:ext cx="6840000" cy="244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Correctness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5005104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0000" y="5123904"/>
            <a:ext cx="6840000" cy="807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333333"/>
                </a:solidFill>
                <a:latin typeface="Arial"/>
              </a:rPr>
              <a:t>The picture produced by the PL is compared channel by channel with the PS result: 0 mismatches out of 2,764,800 channels, and the same holds against an independently written numpy reference. Every kernel also passes C simulation with 0 errors before synthesis. Border policy (horizontal replicate, vertical line-buffer state) is defined once and shared by hardware, testbench and Python model, which is why the comparison can use zero tolerance.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6021873"/>
            <a:ext cx="6840000" cy="244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What Made It Work - and What Did Not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6245073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000" y="6363873"/>
            <a:ext cx="6840000" cy="807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333333"/>
                </a:solidFill>
                <a:latin typeface="Arial"/>
              </a:rPr>
              <a:t>A free-running kernel (ap_ctrl_none) never drains its pipeline when the input stops, so an AXI-DMA transfer can never close; the DMA path therefore uses a bounded variant (ap_ctrl_hs plus a pixel count). The AXI DMA buffer-length register is 14 bits by default, i.e. 16 KB - not enough for a frame, so it was widened to 23 bits. The PYNQ base overlay is a 4448-line Vivado 2024.1 script; rebuilding it with 2026.1 needs exactly three patches.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000" y="7261841"/>
            <a:ext cx="6840000" cy="244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Reusable PYNQ Skills and Reproducibility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7485041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0000" y="7603841"/>
            <a:ext cx="6840000" cy="6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333333"/>
                </a:solidFill>
                <a:latin typeface="Arial"/>
              </a:rPr>
              <a:t>Four board-independent skills ship with the project: overlay handoff linting (.hwh), bit-exact image comparison, measurement collection with PS-vs-PL table generation, and AXI-DMA transfer helpers with cache maintenance and timeouts. Each documents scope, usage, failure modes and what was verified. Everything is scripted, so a clean machine rebuilds both bitstreams with two commands.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000" y="8387015"/>
            <a:ext cx="6840000" cy="244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Verified Results (same board, same 1280x720 image)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8610215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60000" y="8729015"/>
          <a:ext cx="4320000" cy="12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4000"/>
                <a:gridCol w="1548000"/>
                <a:gridCol w="1548000"/>
              </a:tblGrid>
              <a:tr h="252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PS (Cortex-A9, numpy)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PL (DMA, whole frame)</a:t>
                      </a:r>
                    </a:p>
                  </a:txBody>
                  <a:tcPr/>
                </a:tc>
              </a:tr>
              <a:tr h="252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Frame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3108.4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15.8 ms</a:t>
                      </a:r>
                    </a:p>
                  </a:txBody>
                  <a:tcPr/>
                </a:tc>
              </a:tr>
              <a:tr h="252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Frame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0.320 fps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63.45 fps</a:t>
                      </a:r>
                    </a:p>
                  </a:txBody>
                  <a:tcPr/>
                </a:tc>
              </a:tr>
              <a:tr h="252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Pixel throughput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0.30 Mpixel/s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58.47 Mpixel/s</a:t>
                      </a:r>
                    </a:p>
                  </a:txBody>
                  <a:tcPr/>
                </a:tc>
              </a:tr>
              <a:tr h="252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Speed-up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196.7x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26" name="Picture 25" descr="sobel_dma_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00" y="8729015"/>
            <a:ext cx="2232000" cy="12555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932000" y="10020515"/>
            <a:ext cx="2232000" cy="18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777777"/>
                </a:solidFill>
                <a:latin typeface="Arial"/>
              </a:rPr>
              <a:t>Sobel output captured from the PL path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0000" y="10290515"/>
            <a:ext cx="6840000" cy="307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88888"/>
                </a:solidFill>
                <a:latin typeface="Arial"/>
              </a:rPr>
              <a:t>Tool versions: Vivado / Vitis HLS 2026.1, PYNQ 3.1.1 image, device xc7z020clg400-1.  Repository: README.md, docs/, report/design_report.md, report/comparison.md.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