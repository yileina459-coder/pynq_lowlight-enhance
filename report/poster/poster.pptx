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900000"/>
          </a:xfrm>
          <a:prstGeom prst="rect">
            <a:avLst/>
          </a:prstGeom>
          <a:solidFill>
            <a:srgbClr val="12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44000"/>
            <a:ext cx="6840000" cy="339714"/>
          </a:xfrm>
          <a:prstGeom prst="rect">
            <a:avLst/>
          </a:prstGeom>
          <a:noFill/>
        </p:spPr>
        <p:txBody>
          <a:bodyPr wrap="square">
            <a:noAutofit/>
          </a:bodyPr>
          <a:lstStyle/>
          <a:p>
            <a:pPr algn="l">
              <a:lnSpc>
                <a:spcPct val="100000"/>
              </a:lnSpc>
            </a:pPr>
            <a:r>
              <a:rPr sz="1800" b="1">
                <a:solidFill>
                  <a:srgbClr val="FFFFFF"/>
                </a:solidFill>
                <a:latin typeface="Arial"/>
              </a:rPr>
              <a:t>A Sub-Line-Latency Vision Enhancement Terminal</a:t>
            </a:r>
          </a:p>
        </p:txBody>
      </p:sp>
      <p:sp>
        <p:nvSpPr>
          <p:cNvPr id="4" name="TextBox 3"/>
          <p:cNvSpPr txBox="1"/>
          <p:nvPr/>
        </p:nvSpPr>
        <p:spPr>
          <a:xfrm>
            <a:off x="360000" y="540000"/>
            <a:ext cx="6840000" cy="339714"/>
          </a:xfrm>
          <a:prstGeom prst="rect">
            <a:avLst/>
          </a:prstGeom>
          <a:noFill/>
        </p:spPr>
        <p:txBody>
          <a:bodyPr wrap="square">
            <a:noAutofit/>
          </a:bodyPr>
          <a:lstStyle/>
          <a:p>
            <a:pPr algn="l">
              <a:lnSpc>
                <a:spcPct val="100000"/>
              </a:lnSpc>
            </a:pPr>
            <a:r>
              <a:rPr sz="900" b="0">
                <a:solidFill>
                  <a:srgbClr val="C8D8EA"/>
                </a:solidFill>
                <a:latin typeface="Arial"/>
              </a:rPr>
              <a:t>PYNQ-Z2  |  low-latency enhancement for low-light imaging  |  2026 Embedded Chip &amp; System Design Competition, AMD track, self-selected topic (junior group)  |  Zynq-7000 XC7Z020  |  Vivado / Vitis HLS 2026.1</a:t>
            </a:r>
          </a:p>
        </p:txBody>
      </p:sp>
      <p:sp>
        <p:nvSpPr>
          <p:cNvPr id="5" name="TextBox 4"/>
          <p:cNvSpPr txBox="1"/>
          <p:nvPr/>
        </p:nvSpPr>
        <p:spPr>
          <a:xfrm>
            <a:off x="360000" y="1062000"/>
            <a:ext cx="6840000" cy="244476"/>
          </a:xfrm>
          <a:prstGeom prst="rect">
            <a:avLst/>
          </a:prstGeom>
          <a:noFill/>
        </p:spPr>
        <p:txBody>
          <a:bodyPr wrap="square">
            <a:noAutofit/>
          </a:bodyPr>
          <a:lstStyle/>
          <a:p>
            <a:pPr algn="l">
              <a:lnSpc>
                <a:spcPct val="100000"/>
              </a:lnSpc>
            </a:pPr>
            <a:r>
              <a:rPr sz="1200" b="1">
                <a:solidFill>
                  <a:srgbClr val="1E88E5"/>
                </a:solidFill>
                <a:latin typeface="Arial"/>
              </a:rPr>
              <a:t>Motivation</a:t>
            </a:r>
          </a:p>
        </p:txBody>
      </p:sp>
      <p:sp>
        <p:nvSpPr>
          <p:cNvPr id="6" name="Rectangle 5"/>
          <p:cNvSpPr/>
          <p:nvPr/>
        </p:nvSpPr>
        <p:spPr>
          <a:xfrm>
            <a:off x="360000" y="1285200"/>
            <a:ext cx="6840000" cy="1440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0000" y="1371600"/>
            <a:ext cx="6840000" cy="768285"/>
          </a:xfrm>
          <a:prstGeom prst="rect">
            <a:avLst/>
          </a:prstGeom>
          <a:noFill/>
        </p:spPr>
        <p:txBody>
          <a:bodyPr wrap="square">
            <a:noAutofit/>
          </a:bodyPr>
          <a:lstStyle/>
          <a:p>
            <a:pPr algn="l">
              <a:lnSpc>
                <a:spcPct val="100000"/>
              </a:lnSpc>
            </a:pPr>
            <a:r>
              <a:rPr sz="900" b="0">
                <a:solidFill>
                  <a:srgbClr val="333333"/>
                </a:solidFill>
                <a:latin typeface="Arial"/>
              </a:rPr>
              <a:t>Night and dim-light imaging - surveillance, inspection, forensics, automotive night vision, industrial and microscopy work - operates on frames that are dark and low in contrast. Phone/PC pipelines take 100-300 ms from capture to display, which shows as lag and smear once the scene moves. Here the key metric is latency, not frame rate, so the whole enhancement chain sits inside the pixel stream with no frame buffer. This work measures in-pipeline latency (21 clocks); end-to-end latency is not measured.</a:t>
            </a:r>
          </a:p>
        </p:txBody>
      </p:sp>
      <p:sp>
        <p:nvSpPr>
          <p:cNvPr id="8" name="TextBox 7"/>
          <p:cNvSpPr txBox="1"/>
          <p:nvPr/>
        </p:nvSpPr>
        <p:spPr>
          <a:xfrm>
            <a:off x="360000" y="2168685"/>
            <a:ext cx="6840000" cy="244476"/>
          </a:xfrm>
          <a:prstGeom prst="rect">
            <a:avLst/>
          </a:prstGeom>
          <a:noFill/>
        </p:spPr>
        <p:txBody>
          <a:bodyPr wrap="square">
            <a:noAutofit/>
          </a:bodyPr>
          <a:lstStyle/>
          <a:p>
            <a:pPr algn="l">
              <a:lnSpc>
                <a:spcPct val="100000"/>
              </a:lnSpc>
            </a:pPr>
            <a:r>
              <a:rPr sz="1200" b="1">
                <a:solidFill>
                  <a:srgbClr val="1E88E5"/>
                </a:solidFill>
                <a:latin typeface="Arial"/>
              </a:rPr>
              <a:t>Architecture</a:t>
            </a:r>
          </a:p>
        </p:txBody>
      </p:sp>
      <p:sp>
        <p:nvSpPr>
          <p:cNvPr id="9" name="Rectangle 8"/>
          <p:cNvSpPr/>
          <p:nvPr/>
        </p:nvSpPr>
        <p:spPr>
          <a:xfrm>
            <a:off x="360000" y="2391885"/>
            <a:ext cx="6840000" cy="1440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000" y="2478285"/>
            <a:ext cx="6840000" cy="1482571"/>
          </a:xfrm>
          <a:prstGeom prst="rect">
            <a:avLst/>
          </a:prstGeom>
          <a:noFill/>
        </p:spPr>
        <p:txBody>
          <a:bodyPr wrap="square">
            <a:noAutofit/>
          </a:bodyPr>
          <a:lstStyle/>
          <a:p>
            <a:pPr algn="l">
              <a:lnSpc>
                <a:spcPct val="100000"/>
              </a:lnSpc>
            </a:pPr>
            <a:r>
              <a:rPr sz="900" b="0">
                <a:solidFill>
                  <a:srgbClr val="333333"/>
                </a:solidFill>
                <a:latin typeface="Arial"/>
              </a:rPr>
              <a:t>Main path:  PS frame -&gt; VDMA -&gt; enhance -&gt; pixel_unpack -&gt; HDMI OUT, with the kernel sitting in the live pixel stream; measured 21 pixel clocks (147 ns) on the board, ten presets switched while video keeps running.</a:t>
            </a:r>
          </a:p>
          <a:p>
            <a:pPr algn="l">
              <a:lnSpc>
                <a:spcPct val="100000"/>
              </a:lnSpc>
            </a:pPr>
            <a:r>
              <a:rPr sz="900" b="0">
                <a:solidFill>
                  <a:srgbClr val="333333"/>
                </a:solidFill>
                <a:latin typeface="Arial"/>
              </a:rPr>
              <a:t>The frame source is the VDMA because this board's HDMI output only works at 640x480 (800x600/720p/1080p consume no frames, as does the stock bitstream), while the HDMI input IP cannot run at 640x480; frames therefore come from DDR and the kernel still processes real pixels.</a:t>
            </a:r>
          </a:p>
          <a:p>
            <a:pPr algn="l">
              <a:lnSpc>
                <a:spcPct val="100000"/>
              </a:lnSpc>
            </a:pPr>
            <a:r>
              <a:rPr sz="900" b="0">
                <a:solidFill>
                  <a:srgbClr val="333333"/>
                </a:solidFill>
                <a:latin typeface="Arial"/>
              </a:rPr>
              <a:t>The enhance kernel runs local contrast -&gt; tone curve -&gt; binarise/invert -&gt; split screen, all integer, one pixel per clock; 59 configuration bits are driven from the PS at run time.</a:t>
            </a:r>
          </a:p>
          <a:p>
            <a:pPr algn="l">
              <a:lnSpc>
                <a:spcPct val="100000"/>
              </a:lnSpc>
            </a:pPr>
            <a:r>
              <a:rPr sz="900" b="0">
                <a:solidFill>
                  <a:srgbClr val="333333"/>
                </a:solidFill>
                <a:latin typeface="Arial"/>
              </a:rPr>
              <a:t>Verification path:  PS &lt;-&gt; DDR &lt;-&gt; AXI DMA &lt;-&gt; operator, readable back, so bit-exact checks need no display.</a:t>
            </a:r>
          </a:p>
          <a:p>
            <a:pPr algn="l">
              <a:lnSpc>
                <a:spcPct val="100000"/>
              </a:lnSpc>
            </a:pPr>
            <a:r>
              <a:rPr sz="900" b="0">
                <a:solidFill>
                  <a:srgbClr val="333333"/>
                </a:solidFill>
                <a:latin typeface="Arial"/>
              </a:rPr>
              <a:t>Three rotating line buffers plus per-row 3-tap shift registers give each buffer one read and one write per pixel, which is what fits II = 1 into a dual-port BRAM.</a:t>
            </a:r>
          </a:p>
        </p:txBody>
      </p:sp>
      <p:sp>
        <p:nvSpPr>
          <p:cNvPr id="11" name="TextBox 10"/>
          <p:cNvSpPr txBox="1"/>
          <p:nvPr/>
        </p:nvSpPr>
        <p:spPr>
          <a:xfrm>
            <a:off x="360000" y="3989657"/>
            <a:ext cx="6840000" cy="244476"/>
          </a:xfrm>
          <a:prstGeom prst="rect">
            <a:avLst/>
          </a:prstGeom>
          <a:noFill/>
        </p:spPr>
        <p:txBody>
          <a:bodyPr wrap="square">
            <a:noAutofit/>
          </a:bodyPr>
          <a:lstStyle/>
          <a:p>
            <a:pPr algn="l">
              <a:lnSpc>
                <a:spcPct val="100000"/>
              </a:lnSpc>
            </a:pPr>
            <a:r>
              <a:rPr sz="1200" b="1">
                <a:solidFill>
                  <a:srgbClr val="1E88E5"/>
                </a:solidFill>
                <a:latin typeface="Arial"/>
              </a:rPr>
              <a:t>Operators</a:t>
            </a:r>
          </a:p>
        </p:txBody>
      </p:sp>
      <p:sp>
        <p:nvSpPr>
          <p:cNvPr id="12" name="Rectangle 11"/>
          <p:cNvSpPr/>
          <p:nvPr/>
        </p:nvSpPr>
        <p:spPr>
          <a:xfrm>
            <a:off x="360000" y="4212857"/>
            <a:ext cx="6840000" cy="1440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0000" y="4299257"/>
            <a:ext cx="6840000" cy="482571"/>
          </a:xfrm>
          <a:prstGeom prst="rect">
            <a:avLst/>
          </a:prstGeom>
          <a:noFill/>
        </p:spPr>
        <p:txBody>
          <a:bodyPr wrap="square">
            <a:noAutofit/>
          </a:bodyPr>
          <a:lstStyle/>
          <a:p>
            <a:pPr algn="l">
              <a:lnSpc>
                <a:spcPct val="100000"/>
              </a:lnSpc>
            </a:pPr>
            <a:r>
              <a:rPr sz="900" b="0">
                <a:solidFill>
                  <a:srgbClr val="333333"/>
                </a:solidFill>
                <a:latin typeface="Arial"/>
              </a:rPr>
              <a:t>enhance: 3 BRAM, 2 DSP, 2168 FF, 1659 LUT (3%), II = 1, estimated Fmax 194.59 MHz at 7 ns. The operator family behind it - Sobel, 3x3 Gaussian, 3x3 sharpen - is hand-written HLS too (II = 1, 194.6 MHz, under 1.1k LUT each), and colour-space conversion reuses PYNQ's verified color_convert IP instead of being rewritten.</a:t>
            </a:r>
          </a:p>
        </p:txBody>
      </p:sp>
      <p:sp>
        <p:nvSpPr>
          <p:cNvPr id="14" name="TextBox 13"/>
          <p:cNvSpPr txBox="1"/>
          <p:nvPr/>
        </p:nvSpPr>
        <p:spPr>
          <a:xfrm>
            <a:off x="360000" y="4810628"/>
            <a:ext cx="6840000" cy="244476"/>
          </a:xfrm>
          <a:prstGeom prst="rect">
            <a:avLst/>
          </a:prstGeom>
          <a:noFill/>
        </p:spPr>
        <p:txBody>
          <a:bodyPr wrap="square">
            <a:noAutofit/>
          </a:bodyPr>
          <a:lstStyle/>
          <a:p>
            <a:pPr algn="l">
              <a:lnSpc>
                <a:spcPct val="100000"/>
              </a:lnSpc>
            </a:pPr>
            <a:r>
              <a:rPr sz="1200" b="1">
                <a:solidFill>
                  <a:srgbClr val="1E88E5"/>
                </a:solidFill>
                <a:latin typeface="Arial"/>
              </a:rPr>
              <a:t>Correctness</a:t>
            </a:r>
          </a:p>
        </p:txBody>
      </p:sp>
      <p:sp>
        <p:nvSpPr>
          <p:cNvPr id="15" name="Rectangle 14"/>
          <p:cNvSpPr/>
          <p:nvPr/>
        </p:nvSpPr>
        <p:spPr>
          <a:xfrm>
            <a:off x="360000" y="5033828"/>
            <a:ext cx="6840000" cy="1440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000" y="5120228"/>
            <a:ext cx="6840000" cy="1196857"/>
          </a:xfrm>
          <a:prstGeom prst="rect">
            <a:avLst/>
          </a:prstGeom>
          <a:noFill/>
        </p:spPr>
        <p:txBody>
          <a:bodyPr wrap="square">
            <a:noAutofit/>
          </a:bodyPr>
          <a:lstStyle/>
          <a:p>
            <a:pPr algn="l">
              <a:lnSpc>
                <a:spcPct val="100000"/>
              </a:lnSpc>
            </a:pPr>
            <a:r>
              <a:rPr sz="900" b="0">
                <a:solidFill>
                  <a:srgbClr val="333333"/>
                </a:solidFill>
                <a:latin typeface="Arial"/>
              </a:rPr>
              <a:t>enhance passes C simulation against an independently written C++ golden model in two configurations (contrast+split, and tone+binarise+invert+mono): 9216 beats each, 0 errors. Through the AXI-DMA path, all eight presets of the verified parameter table are compared channel by channel with the numpy model: 0 mismatches out of 2,764,800 channels each, at 15.6 ms per frame. A second pair of counters brackets the kernel and stamps the first beat in and out: the measured pipeline latency is 16 pixel clocks, i.e. 160 ns at 100 MHz - about 1% of a 720p60 line, which is what having no frame buffer buys. Border policy (horizontal replicate, vertical line-buffer state) is defined once and shared by hardware, testbench and Python model, which is why the comparison can use zero tolerance.</a:t>
            </a:r>
          </a:p>
        </p:txBody>
      </p:sp>
      <p:sp>
        <p:nvSpPr>
          <p:cNvPr id="17" name="TextBox 16"/>
          <p:cNvSpPr txBox="1"/>
          <p:nvPr/>
        </p:nvSpPr>
        <p:spPr>
          <a:xfrm>
            <a:off x="360000" y="6345885"/>
            <a:ext cx="6840000" cy="244476"/>
          </a:xfrm>
          <a:prstGeom prst="rect">
            <a:avLst/>
          </a:prstGeom>
          <a:noFill/>
        </p:spPr>
        <p:txBody>
          <a:bodyPr wrap="square">
            <a:noAutofit/>
          </a:bodyPr>
          <a:lstStyle/>
          <a:p>
            <a:pPr algn="l">
              <a:lnSpc>
                <a:spcPct val="100000"/>
              </a:lnSpc>
            </a:pPr>
            <a:r>
              <a:rPr sz="1200" b="1">
                <a:solidFill>
                  <a:srgbClr val="1E88E5"/>
                </a:solidFill>
                <a:latin typeface="Arial"/>
              </a:rPr>
              <a:t>What Made It Work - and What Did Not</a:t>
            </a:r>
          </a:p>
        </p:txBody>
      </p:sp>
      <p:sp>
        <p:nvSpPr>
          <p:cNvPr id="18" name="Rectangle 17"/>
          <p:cNvSpPr/>
          <p:nvPr/>
        </p:nvSpPr>
        <p:spPr>
          <a:xfrm>
            <a:off x="360000" y="6569085"/>
            <a:ext cx="6840000" cy="1440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0000" y="6655485"/>
            <a:ext cx="6840000" cy="911142"/>
          </a:xfrm>
          <a:prstGeom prst="rect">
            <a:avLst/>
          </a:prstGeom>
          <a:noFill/>
        </p:spPr>
        <p:txBody>
          <a:bodyPr wrap="square">
            <a:noAutofit/>
          </a:bodyPr>
          <a:lstStyle/>
          <a:p>
            <a:pPr algn="l">
              <a:lnSpc>
                <a:spcPct val="100000"/>
              </a:lnSpc>
            </a:pPr>
            <a:r>
              <a:rPr sz="900" b="0">
                <a:solidFill>
                  <a:srgbClr val="333333"/>
                </a:solidFill>
                <a:latin typeface="Arial"/>
              </a:rPr>
              <a:t>A free-running kernel (ap_ctrl_none) never drains its pipeline when the input stops, so an AXI-DMA transfer can never close; the DMA path needs a bounded variant (ap_ctrl_hs plus a pixel count). The same property bit the other way: HLS moves loop-invariant inputs into the pipeline prologue, so six of nine configuration parameters froze at power-up (binarize_read_reg_* in the netlist). The fix moves the 59 bits into a dual-port BRAM read once per pixel, which cannot be hoisted: a preset switch is one register write, with no reset and no stream interruption.</a:t>
            </a:r>
          </a:p>
        </p:txBody>
      </p:sp>
      <p:sp>
        <p:nvSpPr>
          <p:cNvPr id="20" name="TextBox 19"/>
          <p:cNvSpPr txBox="1"/>
          <p:nvPr/>
        </p:nvSpPr>
        <p:spPr>
          <a:xfrm>
            <a:off x="360000" y="7595428"/>
            <a:ext cx="6840000" cy="244476"/>
          </a:xfrm>
          <a:prstGeom prst="rect">
            <a:avLst/>
          </a:prstGeom>
          <a:noFill/>
        </p:spPr>
        <p:txBody>
          <a:bodyPr wrap="square">
            <a:noAutofit/>
          </a:bodyPr>
          <a:lstStyle/>
          <a:p>
            <a:pPr algn="l">
              <a:lnSpc>
                <a:spcPct val="100000"/>
              </a:lnSpc>
            </a:pPr>
            <a:r>
              <a:rPr sz="1200" b="1">
                <a:solidFill>
                  <a:srgbClr val="1E88E5"/>
                </a:solidFill>
                <a:latin typeface="Arial"/>
              </a:rPr>
              <a:t>Reusable PYNQ Skills and Reproducibility</a:t>
            </a:r>
          </a:p>
        </p:txBody>
      </p:sp>
      <p:sp>
        <p:nvSpPr>
          <p:cNvPr id="21" name="Rectangle 20"/>
          <p:cNvSpPr/>
          <p:nvPr/>
        </p:nvSpPr>
        <p:spPr>
          <a:xfrm>
            <a:off x="360000" y="7818628"/>
            <a:ext cx="6840000" cy="1440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0000" y="7905028"/>
            <a:ext cx="6840000" cy="625428"/>
          </a:xfrm>
          <a:prstGeom prst="rect">
            <a:avLst/>
          </a:prstGeom>
          <a:noFill/>
        </p:spPr>
        <p:txBody>
          <a:bodyPr wrap="square">
            <a:noAutofit/>
          </a:bodyPr>
          <a:lstStyle/>
          <a:p>
            <a:pPr algn="l">
              <a:lnSpc>
                <a:spcPct val="100000"/>
              </a:lnSpc>
            </a:pPr>
            <a:r>
              <a:rPr sz="900" b="0">
                <a:solidFill>
                  <a:srgbClr val="333333"/>
                </a:solidFill>
                <a:latin typeface="Arial"/>
              </a:rPr>
              <a:t>Five board-independent skills ship with the project: overlay handoff linting (.hwh), bit-exact image comparison, PS-vs-PL measurement collection, AXI-DMA helpers with cache maintenance, and a pitfalls checklist. Each documents scope, usage, failure modes and what was verified. Everything is scripted: a clean machine rebuilds both bitstreams with two commands.</a:t>
            </a:r>
          </a:p>
        </p:txBody>
      </p:sp>
      <p:sp>
        <p:nvSpPr>
          <p:cNvPr id="23" name="TextBox 22"/>
          <p:cNvSpPr txBox="1"/>
          <p:nvPr/>
        </p:nvSpPr>
        <p:spPr>
          <a:xfrm>
            <a:off x="360000" y="8595257"/>
            <a:ext cx="6840000" cy="244476"/>
          </a:xfrm>
          <a:prstGeom prst="rect">
            <a:avLst/>
          </a:prstGeom>
          <a:noFill/>
        </p:spPr>
        <p:txBody>
          <a:bodyPr wrap="square">
            <a:noAutofit/>
          </a:bodyPr>
          <a:lstStyle/>
          <a:p>
            <a:pPr algn="l">
              <a:lnSpc>
                <a:spcPct val="100000"/>
              </a:lnSpc>
            </a:pPr>
            <a:r>
              <a:rPr sz="1200" b="1">
                <a:solidFill>
                  <a:srgbClr val="1E88E5"/>
                </a:solidFill>
                <a:latin typeface="Arial"/>
              </a:rPr>
              <a:t>Operator Family on the DMA Path (same board, same 1280x720 image)</a:t>
            </a:r>
          </a:p>
        </p:txBody>
      </p:sp>
      <p:sp>
        <p:nvSpPr>
          <p:cNvPr id="24" name="Rectangle 23"/>
          <p:cNvSpPr/>
          <p:nvPr/>
        </p:nvSpPr>
        <p:spPr>
          <a:xfrm>
            <a:off x="360000" y="8818457"/>
            <a:ext cx="6840000" cy="1440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25" name="Table 24"/>
          <p:cNvGraphicFramePr>
            <a:graphicFrameLocks noGrp="1"/>
          </p:cNvGraphicFramePr>
          <p:nvPr/>
        </p:nvGraphicFramePr>
        <p:xfrm>
          <a:off x="360000" y="8904857"/>
          <a:ext cx="4320000" cy="1080000"/>
        </p:xfrm>
        <a:graphic>
          <a:graphicData uri="http://schemas.openxmlformats.org/drawingml/2006/table">
            <a:tbl>
              <a:tblPr firstRow="1" bandRow="1">
                <a:tableStyleId>{5C22544A-7EE6-4342-B048-85BDC9FD1C3A}</a:tableStyleId>
              </a:tblPr>
              <a:tblGrid>
                <a:gridCol w="1224000"/>
                <a:gridCol w="1548000"/>
                <a:gridCol w="1548000"/>
              </a:tblGrid>
              <a:tr h="270000">
                <a:tc>
                  <a:txBody>
                    <a:bodyPr/>
                    <a:lstStyle/>
                    <a:p>
                      <a:r>
                        <a:rPr sz="900" b="1">
                          <a:solidFill>
                            <a:srgbClr val="FFFFFF"/>
                          </a:solidFill>
                          <a:latin typeface="Arial"/>
                        </a:rPr>
                        <a:t>Measured</a:t>
                      </a:r>
                    </a:p>
                  </a:txBody>
                  <a:tcPr/>
                </a:tc>
                <a:tc>
                  <a:txBody>
                    <a:bodyPr/>
                    <a:lstStyle/>
                    <a:p>
                      <a:r>
                        <a:rPr sz="900" b="1">
                          <a:solidFill>
                            <a:srgbClr val="FFFFFF"/>
                          </a:solidFill>
                          <a:latin typeface="Arial"/>
                        </a:rPr>
                        <a:t>PS (Cortex-A9, numpy)</a:t>
                      </a:r>
                    </a:p>
                  </a:txBody>
                  <a:tcPr/>
                </a:tc>
                <a:tc>
                  <a:txBody>
                    <a:bodyPr/>
                    <a:lstStyle/>
                    <a:p>
                      <a:r>
                        <a:rPr sz="900" b="1">
                          <a:solidFill>
                            <a:srgbClr val="FFFFFF"/>
                          </a:solidFill>
                          <a:latin typeface="Arial"/>
                        </a:rPr>
                        <a:t>PL (Zynq + DMA)</a:t>
                      </a:r>
                    </a:p>
                  </a:txBody>
                  <a:tcPr/>
                </a:tc>
              </a:tr>
              <a:tr h="270000">
                <a:tc>
                  <a:txBody>
                    <a:bodyPr/>
                    <a:lstStyle/>
                    <a:p>
                      <a:r>
                        <a:rPr sz="900" b="0">
                          <a:solidFill>
                            <a:srgbClr val="333333"/>
                          </a:solidFill>
                          <a:latin typeface="Arial"/>
                        </a:rPr>
                        <a:t>enhance, 8 (verified table)</a:t>
                      </a:r>
                    </a:p>
                  </a:txBody>
                  <a:tcPr/>
                </a:tc>
                <a:tc>
                  <a:txBody>
                    <a:bodyPr/>
                    <a:lstStyle/>
                    <a:p>
                      <a:r>
                        <a:rPr sz="900" b="0">
                          <a:solidFill>
                            <a:srgbClr val="333333"/>
                          </a:solidFill>
                          <a:latin typeface="Arial"/>
                        </a:rPr>
                        <a:t>-</a:t>
                      </a:r>
                    </a:p>
                  </a:txBody>
                  <a:tcPr/>
                </a:tc>
                <a:tc>
                  <a:txBody>
                    <a:bodyPr/>
                    <a:lstStyle/>
                    <a:p>
                      <a:r>
                        <a:rPr sz="900" b="0">
                          <a:solidFill>
                            <a:srgbClr val="333333"/>
                          </a:solidFill>
                          <a:latin typeface="Arial"/>
                        </a:rPr>
                        <a:t>15.6 ms, 0/2.76M wrong</a:t>
                      </a:r>
                    </a:p>
                  </a:txBody>
                  <a:tcPr/>
                </a:tc>
              </a:tr>
              <a:tr h="270000">
                <a:tc>
                  <a:txBody>
                    <a:bodyPr/>
                    <a:lstStyle/>
                    <a:p>
                      <a:r>
                        <a:rPr sz="900" b="0">
                          <a:solidFill>
                            <a:srgbClr val="333333"/>
                          </a:solidFill>
                          <a:latin typeface="Arial"/>
                        </a:rPr>
                        <a:t>Pipeline latency</a:t>
                      </a:r>
                    </a:p>
                  </a:txBody>
                  <a:tcPr/>
                </a:tc>
                <a:tc>
                  <a:txBody>
                    <a:bodyPr/>
                    <a:lstStyle/>
                    <a:p>
                      <a:r>
                        <a:rPr sz="900" b="0">
                          <a:solidFill>
                            <a:srgbClr val="333333"/>
                          </a:solidFill>
                          <a:latin typeface="Arial"/>
                        </a:rPr>
                        <a:t>-</a:t>
                      </a:r>
                    </a:p>
                  </a:txBody>
                  <a:tcPr/>
                </a:tc>
                <a:tc>
                  <a:txBody>
                    <a:bodyPr/>
                    <a:lstStyle/>
                    <a:p>
                      <a:r>
                        <a:rPr sz="900" b="0">
                          <a:solidFill>
                            <a:srgbClr val="333333"/>
                          </a:solidFill>
                          <a:latin typeface="Arial"/>
                        </a:rPr>
                        <a:t>16 clocks = 160 ns</a:t>
                      </a:r>
                    </a:p>
                  </a:txBody>
                  <a:tcPr/>
                </a:tc>
              </a:tr>
              <a:tr h="270000">
                <a:tc>
                  <a:txBody>
                    <a:bodyPr/>
                    <a:lstStyle/>
                    <a:p>
                      <a:r>
                        <a:rPr sz="900" b="1">
                          <a:solidFill>
                            <a:srgbClr val="333333"/>
                          </a:solidFill>
                          <a:latin typeface="Arial"/>
                        </a:rPr>
                        <a:t>Sobel frame time</a:t>
                      </a:r>
                    </a:p>
                  </a:txBody>
                  <a:tcPr/>
                </a:tc>
                <a:tc>
                  <a:txBody>
                    <a:bodyPr/>
                    <a:lstStyle/>
                    <a:p>
                      <a:r>
                        <a:rPr sz="900" b="1">
                          <a:solidFill>
                            <a:srgbClr val="333333"/>
                          </a:solidFill>
                          <a:latin typeface="Arial"/>
                        </a:rPr>
                        <a:t>3108.4 ms</a:t>
                      </a:r>
                    </a:p>
                  </a:txBody>
                  <a:tcPr/>
                </a:tc>
                <a:tc>
                  <a:txBody>
                    <a:bodyPr/>
                    <a:lstStyle/>
                    <a:p>
                      <a:r>
                        <a:rPr sz="900" b="1">
                          <a:solidFill>
                            <a:srgbClr val="333333"/>
                          </a:solidFill>
                          <a:latin typeface="Arial"/>
                        </a:rPr>
                        <a:t>15.8 ms (196.7x)</a:t>
                      </a:r>
                    </a:p>
                  </a:txBody>
                  <a:tcPr/>
                </a:tc>
              </a:tr>
            </a:tbl>
          </a:graphicData>
        </a:graphic>
      </p:graphicFrame>
      <p:pic>
        <p:nvPicPr>
          <p:cNvPr id="26" name="Picture 25" descr="hdmi_presets_2x2.png"/>
          <p:cNvPicPr>
            <a:picLocks noChangeAspect="1"/>
          </p:cNvPicPr>
          <p:nvPr/>
        </p:nvPicPr>
        <p:blipFill>
          <a:blip r:embed="rId2"/>
          <a:stretch>
            <a:fillRect/>
          </a:stretch>
        </p:blipFill>
        <p:spPr>
          <a:xfrm>
            <a:off x="4932000" y="8904857"/>
            <a:ext cx="1548000" cy="1164031"/>
          </a:xfrm>
          <a:prstGeom prst="rect">
            <a:avLst/>
          </a:prstGeom>
        </p:spPr>
      </p:pic>
      <p:sp>
        <p:nvSpPr>
          <p:cNvPr id="27" name="TextBox 26"/>
          <p:cNvSpPr txBox="1"/>
          <p:nvPr/>
        </p:nvSpPr>
        <p:spPr>
          <a:xfrm>
            <a:off x="4932000" y="10104888"/>
            <a:ext cx="1548000" cy="180984"/>
          </a:xfrm>
          <a:prstGeom prst="rect">
            <a:avLst/>
          </a:prstGeom>
          <a:noFill/>
        </p:spPr>
        <p:txBody>
          <a:bodyPr wrap="square">
            <a:noAutofit/>
          </a:bodyPr>
          <a:lstStyle/>
          <a:p>
            <a:pPr algn="ctr">
              <a:lnSpc>
                <a:spcPct val="100000"/>
              </a:lnSpc>
            </a:pPr>
            <a:r>
              <a:rPr sz="800" b="0">
                <a:solidFill>
                  <a:srgbClr val="777777"/>
                </a:solidFill>
                <a:latin typeface="Arial"/>
              </a:rPr>
              <a:t>Captures (right: split)</a:t>
            </a:r>
          </a:p>
        </p:txBody>
      </p:sp>
      <p:sp>
        <p:nvSpPr>
          <p:cNvPr id="28" name="TextBox 27"/>
          <p:cNvSpPr txBox="1"/>
          <p:nvPr/>
        </p:nvSpPr>
        <p:spPr>
          <a:xfrm>
            <a:off x="360000" y="10281288"/>
            <a:ext cx="6840000" cy="307968"/>
          </a:xfrm>
          <a:prstGeom prst="rect">
            <a:avLst/>
          </a:prstGeom>
          <a:noFill/>
        </p:spPr>
        <p:txBody>
          <a:bodyPr wrap="square">
            <a:noAutofit/>
          </a:bodyPr>
          <a:lstStyle/>
          <a:p>
            <a:pPr algn="l">
              <a:lnSpc>
                <a:spcPct val="100000"/>
              </a:lnSpc>
            </a:pPr>
            <a:r>
              <a:rPr sz="800" b="0">
                <a:solidFill>
                  <a:srgbClr val="888888"/>
                </a:solidFill>
                <a:latin typeface="Arial"/>
              </a:rPr>
              <a:t>Tool versions: Vivado / Vitis HLS 2026.1, PYNQ 3.1.1 image, device xc7z020clg400-1.  Repository: README.md, docs/ (docs/hdmi_status.md records the HDMI measurements and the two hardware limits), report/design_report.md, report/comparison.md.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