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Microsoft YaHei"/>
              </a:rPr>
              <a:t>低延迟视觉增强终端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315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C8D6E2"/>
                </a:solidFill>
                <a:latin typeface="Microsoft YaHei"/>
              </a:rPr>
              <a:t>面向低照度图像观察的 FPGA 像素流增强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3774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8D6E2"/>
                </a:solidFill>
                <a:latin typeface="Segoe UI"/>
              </a:rPr>
              <a:t>中文版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53035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FA6BC"/>
                </a:solidFill>
                <a:latin typeface="Segoe UI"/>
              </a:rPr>
              <a:t>PYNQ-Z2 · XC7Z020 · Vitis HLS 2026.1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Microsoft YaHei"/>
              </a:rPr>
              <a:t>1  背景与目标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9344"/>
            <a:ext cx="347472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55648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0" b="1">
                <a:solidFill>
                  <a:srgbClr val="1A1A1A"/>
                </a:solidFill>
                <a:latin typeface="Microsoft YaHei"/>
              </a:rPr>
              <a:t>问题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02536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>
                <a:solidFill>
                  <a:srgbClr val="555F6B"/>
                </a:solidFill>
                <a:latin typeface="Microsoft YaHei"/>
              </a:rPr>
              <a:t>低照度图像噪声大、对比度低；软件增强一帧 3.1 s，无法连续观察。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34639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0" b="1">
                <a:solidFill>
                  <a:srgbClr val="1A1A1A"/>
                </a:solidFill>
                <a:latin typeface="Microsoft YaHei"/>
              </a:rPr>
              <a:t>思路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081527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>
                <a:solidFill>
                  <a:srgbClr val="555F6B"/>
                </a:solidFill>
                <a:latin typeface="Microsoft YaHei"/>
              </a:rPr>
              <a:t>把整条增强链放进 PL 像素通路，像素进多少出多少，延迟以时钟计而不是以帧计。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913631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0" b="1">
                <a:solidFill>
                  <a:srgbClr val="1A1A1A"/>
                </a:solidFill>
                <a:latin typeface="Microsoft YaHei"/>
              </a:rPr>
              <a:t>目标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160519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>
                <a:solidFill>
                  <a:srgbClr val="555F6B"/>
                </a:solidFill>
                <a:latin typeface="Microsoft YaHei"/>
              </a:rPr>
              <a:t>不加帧缓存，同时做到画质可调、结果可复算、参数可在线切换。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992623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40" b="1">
                <a:solidFill>
                  <a:srgbClr val="1A1A1A"/>
                </a:solidFill>
                <a:latin typeface="Microsoft YaHei"/>
              </a:rPr>
              <a:t>方法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239511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80" b="0">
                <a:solidFill>
                  <a:srgbClr val="555F6B"/>
                </a:solidFill>
                <a:latin typeface="Microsoft YaHei"/>
              </a:rPr>
              <a:t>以逐位比对定正确性，以双时间戳定延迟，以寄存器写定切换。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325880"/>
            <a:ext cx="3794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Microsoft YaHei"/>
              </a:rPr>
              <a:t>2  系统架构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609344"/>
            <a:ext cx="379476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6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主机浏览器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21808" y="1965960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53212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DDR 帧缓冲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7" y="1965960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1228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VDMA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AXI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采集卡 / 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主机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HDMI 输出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640×480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Microsoft YaHei"/>
              </a:rPr>
              <a:t>增强核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38060" y="2322576"/>
            <a:ext cx="0" cy="27432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620256" y="2825496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340096" y="2825496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51960" y="3218688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08CC8"/>
                </a:solidFill>
                <a:latin typeface="Microsoft YaHei"/>
              </a:rPr>
              <a:t>像素进多少出多少 · 链内无帧缓存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438144"/>
            <a:ext cx="3794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Microsoft YaHei"/>
              </a:rPr>
              <a:t>3  关键设计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3721607"/>
            <a:ext cx="379476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60" y="3822191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Microsoft YaHei"/>
              </a:rPr>
              <a:t>三抽头行缓冲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0" y="4005072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5F6B"/>
                </a:solidFill>
                <a:latin typeface="Microsoft YaHei"/>
              </a:rPr>
              <a:t>每行缓冲每周期只读一次，II 保持为 1，8 个算子共用同一套读口。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4297679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Microsoft YaHei"/>
              </a:rPr>
              <a:t>参数存 BRAM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480559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5F6B"/>
                </a:solidFill>
                <a:latin typeface="Microsoft YaHei"/>
              </a:rPr>
              <a:t>10 档预设写入寄存器即生效，不复位、不中断像素流。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73167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Microsoft YaHei"/>
              </a:rPr>
              <a:t>全整数定点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4956047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5F6B"/>
                </a:solidFill>
                <a:latin typeface="Microsoft YaHei"/>
              </a:rPr>
              <a:t>与 NumPy 黄金模型 0 容差比对，8 档 2,764,800 通道逐位一致。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248655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Microsoft YaHei"/>
              </a:rPr>
              <a:t>双时间戳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5431535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555F6B"/>
                </a:solidFill>
                <a:latin typeface="Microsoft YaHei"/>
              </a:rPr>
              <a:t>DMA 与 HDMI 两条通路各自打点，实测流水线延迟 16 拍 / 160 ns。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1325880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Microsoft YaHei"/>
              </a:rPr>
              <a:t>4  结果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75320" y="1609344"/>
            <a:ext cx="342900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5320" y="1737360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1737360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180136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194.59 MHz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210312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Microsoft YaHei"/>
              </a:rPr>
              <a:t>实现后频率，WNS +0.206 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40112" y="1737360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40112" y="1737360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77272" y="180136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1,659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77272" y="210312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Microsoft YaHei"/>
              </a:rPr>
              <a:t>占 XC7Z020 的 3%；FF 2,168 / BRAM 3 / DSP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2487168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75320" y="2487168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255117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15.6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0" y="285292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Microsoft YaHei"/>
              </a:rPr>
              <a:t>1280×720 单帧处理时间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40112" y="2487168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040112" y="2487168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77272" y="255117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196.7×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77272" y="285292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Microsoft YaHei"/>
              </a:rPr>
              <a:t>相对 ARM 纯软件的加速比（Sobel）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310128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Microsoft YaHei"/>
              </a:rPr>
              <a:t>5  演示现场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3593592"/>
            <a:ext cx="342900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etup_full_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675887"/>
            <a:ext cx="1439899" cy="19202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275320" y="5650992"/>
            <a:ext cx="3429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30" b="0">
                <a:solidFill>
                  <a:srgbClr val="555F6B"/>
                </a:solidFill>
                <a:latin typeface="Microsoft YaHei"/>
              </a:rPr>
              <a:t>照片：笔记本运行 OBS，经采集卡接收板卡 HDMI 输出。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6053328"/>
            <a:ext cx="11183112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6053328"/>
            <a:ext cx="5029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6126480"/>
            <a:ext cx="10835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>
                <a:solidFill>
                  <a:srgbClr val="555F6B"/>
                </a:solidFill>
                <a:latin typeface="Microsoft YaHei"/>
              </a:rPr>
              <a:t>复现：源码、构建脚本与黄金模型都在仓库，按 README 四步重建。   验证：8 档预设逐位 0 差异，双时间戳实测 16 / 21 拍。   边界：HDMI 固定 640×480@60，延迟指 PL 内部流水线。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15568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6459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Microsoft YaHei"/>
              </a:rPr>
              <a:t>Low-Latency Vision Enhancement Terminal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731520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0">
                <a:solidFill>
                  <a:srgbClr val="C8D6E2"/>
                </a:solidFill>
                <a:latin typeface="Microsoft YaHei"/>
              </a:rPr>
              <a:t>Pixel-stream enhancement on FPGA for low-light image 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52560" y="237744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100" b="0">
                <a:solidFill>
                  <a:srgbClr val="C8D6E2"/>
                </a:solidFill>
                <a:latin typeface="Segoe UI"/>
              </a:rPr>
              <a:t>English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0" y="530352"/>
            <a:ext cx="2743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8FA6BC"/>
                </a:solidFill>
                <a:latin typeface="Segoe UI"/>
              </a:rPr>
              <a:t>PYNQ-Z2 · XC7Z020 · Vitis HLS 2026.1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325880"/>
            <a:ext cx="3474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Segoe UI"/>
              </a:rPr>
              <a:t>1  Background &amp; Goal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9344"/>
            <a:ext cx="347472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755648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Segoe UI"/>
              </a:rPr>
              <a:t>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02536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40" b="0">
                <a:solidFill>
                  <a:srgbClr val="555F6B"/>
                </a:solidFill>
                <a:latin typeface="Segoe UI"/>
              </a:rPr>
              <a:t>Low-light images are noisy and flat; software enhancement takes 3.1 s per frame.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88336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Segoe UI"/>
              </a:rPr>
              <a:t>Approach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935224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40" b="0">
                <a:solidFill>
                  <a:srgbClr val="555F6B"/>
                </a:solidFill>
                <a:latin typeface="Segoe UI"/>
              </a:rPr>
              <a:t>The chain runs inside the PL pixel path: pixels in, pixels out, latency in clocks, not frames.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3621024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Segoe UI"/>
              </a:rPr>
              <a:t>Goal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3867912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40" b="0">
                <a:solidFill>
                  <a:srgbClr val="555F6B"/>
                </a:solidFill>
                <a:latin typeface="Segoe UI"/>
              </a:rPr>
              <a:t>Adjustable quality, reproducible results and live preset switching, no extra frame buffer.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553712"/>
            <a:ext cx="34747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1A1A1A"/>
                </a:solidFill>
                <a:latin typeface="Segoe UI"/>
              </a:rPr>
              <a:t>Method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4800600"/>
            <a:ext cx="347472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40" b="0">
                <a:solidFill>
                  <a:srgbClr val="555F6B"/>
                </a:solidFill>
                <a:latin typeface="Segoe UI"/>
              </a:rPr>
              <a:t>Correctness by bit-exact compare, latency by dual timestamps, switching by one register write.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1325880"/>
            <a:ext cx="3794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Segoe UI"/>
              </a:rPr>
              <a:t>2  System Architecture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609344"/>
            <a:ext cx="379476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5196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Host browser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21808" y="1965960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53212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DDR frame buffer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01967" y="1965960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812280" y="1755648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VDMA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194560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AXI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25196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Capture / OBS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host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53212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HDMI 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3212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640×480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2615184"/>
            <a:ext cx="1051560" cy="420624"/>
          </a:xfrm>
          <a:prstGeom prst="round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Enhance 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3054096"/>
            <a:ext cx="105156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720" b="0">
                <a:solidFill>
                  <a:srgbClr val="555F6B"/>
                </a:solidFill>
                <a:latin typeface="Segoe UI"/>
              </a:rPr>
              <a:t>PL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338060" y="2322576"/>
            <a:ext cx="0" cy="27432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H="1">
            <a:off x="6620256" y="2825496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5340096" y="2825496"/>
            <a:ext cx="173736" cy="0"/>
          </a:xfrm>
          <a:prstGeom prst="line">
            <a:avLst/>
          </a:prstGeom>
          <a:ln w="17780">
            <a:solidFill>
              <a:srgbClr val="008C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4251960" y="3218688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1">
                <a:solidFill>
                  <a:srgbClr val="008CC8"/>
                </a:solidFill>
                <a:latin typeface="Segoe UI"/>
              </a:rPr>
              <a:t>pixels in, pixels out · no frame buffer in the chain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438144"/>
            <a:ext cx="37947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Segoe UI"/>
              </a:rPr>
              <a:t>3  Key Design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51960" y="3721607"/>
            <a:ext cx="379476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51960" y="3822191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Segoe UI"/>
              </a:rPr>
              <a:t>Three-tap line buffer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51960" y="4005072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>
                <a:solidFill>
                  <a:srgbClr val="555F6B"/>
                </a:solidFill>
                <a:latin typeface="Segoe UI"/>
              </a:rPr>
              <a:t>Each line buffer is read once per cycle, keeping II = 1 for all eight operators.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51960" y="4334256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Segoe UI"/>
              </a:rPr>
              <a:t>Parameters in BRAM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517136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>
                <a:solidFill>
                  <a:srgbClr val="555F6B"/>
                </a:solidFill>
                <a:latin typeface="Segoe UI"/>
              </a:rPr>
              <a:t>Ten presets take effect on a register write, without reset or stream interruption.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846320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Segoe UI"/>
              </a:rPr>
              <a:t>Integer datapath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51960" y="5029200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>
                <a:solidFill>
                  <a:srgbClr val="555F6B"/>
                </a:solidFill>
                <a:latin typeface="Segoe UI"/>
              </a:rPr>
              <a:t>Bit-exact against a NumPy golden model: 0 of 2,764,800 channels differ across 8 presets.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51960" y="5358384"/>
            <a:ext cx="3794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30" b="1">
                <a:solidFill>
                  <a:srgbClr val="1A1A1A"/>
                </a:solidFill>
                <a:latin typeface="Segoe UI"/>
              </a:rPr>
              <a:t>Dual timestamps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51960" y="5541264"/>
            <a:ext cx="379476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>
                <a:solidFill>
                  <a:srgbClr val="555F6B"/>
                </a:solidFill>
                <a:latin typeface="Segoe UI"/>
              </a:rPr>
              <a:t>DMA and HDMI paths are timed separately; measured latency is 16 clocks / 160 ns.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1325880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Segoe UI"/>
              </a:rPr>
              <a:t>4  Results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75320" y="1609344"/>
            <a:ext cx="342900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275320" y="1737360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275320" y="1737360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180136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194.59 MHz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80" y="210312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Segoe UI"/>
              </a:rPr>
              <a:t>clock after implementation, WNS +0.206 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40112" y="1737360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040112" y="1737360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177272" y="1801368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1,659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177272" y="2103120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Segoe UI"/>
              </a:rPr>
              <a:t>3% of XC7Z020; FF 2,168 / BRAM 3 / DSP 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275320" y="2487168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8275320" y="2487168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12480" y="255117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15.6 ms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12480" y="285292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Segoe UI"/>
              </a:rPr>
              <a:t>per frame at 1280×720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40112" y="2487168"/>
            <a:ext cx="1664208" cy="676656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0040112" y="2487168"/>
            <a:ext cx="50292" cy="676656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177272" y="2551176"/>
            <a:ext cx="14813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>
                <a:solidFill>
                  <a:srgbClr val="0E2A47"/>
                </a:solidFill>
                <a:latin typeface="Microsoft YaHei"/>
              </a:rPr>
              <a:t>196.7×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77272" y="2852928"/>
            <a:ext cx="14813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19" b="0">
                <a:solidFill>
                  <a:srgbClr val="555F6B"/>
                </a:solidFill>
                <a:latin typeface="Segoe UI"/>
              </a:rPr>
              <a:t>speed-up over ARM software (Sobel)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310128"/>
            <a:ext cx="3429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008CC8"/>
                </a:solidFill>
                <a:latin typeface="Segoe UI"/>
              </a:rPr>
              <a:t>5  Demo setup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75320" y="3593592"/>
            <a:ext cx="3429000" cy="13716"/>
          </a:xfrm>
          <a:prstGeom prst="rect">
            <a:avLst/>
          </a:prstGeom>
          <a:solidFill>
            <a:srgbClr val="D8E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8" name="Picture 67" descr="setup_full_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3675887"/>
            <a:ext cx="1439899" cy="192024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8275320" y="5650992"/>
            <a:ext cx="3429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30" b="0">
                <a:solidFill>
                  <a:srgbClr val="555F6B"/>
                </a:solidFill>
                <a:latin typeface="Segoe UI"/>
              </a:rPr>
              <a:t>Photo: host running OBS, receiving the board's HDMI output through a capture card.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6053328"/>
            <a:ext cx="11183112" cy="566928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502920" y="6053328"/>
            <a:ext cx="50292" cy="566928"/>
          </a:xfrm>
          <a:prstGeom prst="rect">
            <a:avLst/>
          </a:prstGeom>
          <a:solidFill>
            <a:srgbClr val="008C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85800" y="6126480"/>
            <a:ext cx="1083564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>
                <a:solidFill>
                  <a:srgbClr val="555F6B"/>
                </a:solidFill>
                <a:latin typeface="Segoe UI"/>
              </a:rPr>
              <a:t>Reproduce: sources, scripts and golden model in the repo, four steps rebuild it.   Verify: 0 differences across 8 presets, 16 / 21 clocks by dual timestamps.   Scope: HDMI 640×480@60; latency is PL pipeline only.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